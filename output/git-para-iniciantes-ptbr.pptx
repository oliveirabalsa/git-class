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2057400" cy="310896"/>
          </a:xfrm>
          <a:prstGeom prst="roundRect">
            <a:avLst/>
          </a:prstGeom>
          <a:solidFill>
            <a:srgbClr val="20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1" y="557784"/>
            <a:ext cx="1911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PT-BR | NIVEL INICIANTE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A33"/>
                </a:solidFill>
                <a:latin typeface="Arial"/>
              </a:rPr>
              <a:t>Git do zero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6727C"/>
                </a:solidFill>
                <a:latin typeface="Arial"/>
              </a:rPr>
              <a:t>Uma apresentacao simples para ensinar Git a quem nunca versionou nada.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606040"/>
            <a:ext cx="4206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F7F79"/>
                </a:solidFill>
                <a:latin typeface="Arial"/>
              </a:rPr>
              <a:t>• </a:t>
            </a:r>
            <a:r>
              <a:rPr sz="1800">
                <a:solidFill>
                  <a:srgbClr val="1F2A33"/>
                </a:solidFill>
                <a:latin typeface="Arial"/>
              </a:rPr>
              <a:t>Explica conceitos sem jargao tecnico pesado.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F7F79"/>
                </a:solidFill>
                <a:latin typeface="Arial"/>
              </a:rPr>
              <a:t>• </a:t>
            </a:r>
            <a:r>
              <a:rPr sz="1800">
                <a:solidFill>
                  <a:srgbClr val="1F2A33"/>
                </a:solidFill>
                <a:latin typeface="Arial"/>
              </a:rPr>
              <a:t>Mostra os primeiros comandos que realmente importam.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F7F79"/>
                </a:solidFill>
                <a:latin typeface="Arial"/>
              </a:rPr>
              <a:t>• </a:t>
            </a:r>
            <a:r>
              <a:rPr sz="1800">
                <a:solidFill>
                  <a:srgbClr val="1F2A33"/>
                </a:solidFill>
                <a:latin typeface="Arial"/>
              </a:rPr>
              <a:t>Fecha com um exercicio curto para praticar em aula.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868680"/>
            <a:ext cx="5623560" cy="51206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440" y="1170432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F2A33"/>
                </a:solidFill>
                <a:latin typeface="Arial"/>
              </a:rPr>
              <a:t>Como o Git pensa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1536192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727C"/>
                </a:solidFill>
                <a:latin typeface="Arial"/>
              </a:rPr>
              <a:t>Visual para repetir varias vezes durante a aula.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965960"/>
            <a:ext cx="1417320" cy="1508760"/>
          </a:xfrm>
          <a:prstGeom prst="roundRect">
            <a:avLst/>
          </a:prstGeom>
          <a:solidFill>
            <a:srgbClr val="DCEEEB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06440" y="1965960"/>
            <a:ext cx="141732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07607" y="2148840"/>
            <a:ext cx="10149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33"/>
                </a:solidFill>
                <a:latin typeface="Arial"/>
              </a:rPr>
              <a:t>1. Editar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7607" y="2606039"/>
            <a:ext cx="1014984" cy="68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727C"/>
                </a:solidFill>
                <a:latin typeface="Arial"/>
              </a:rPr>
              <a:t>Voce mexe nos arquivos normalmente.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2331720"/>
            <a:ext cx="320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2F7F79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07808" y="1965960"/>
            <a:ext cx="1554480" cy="1508760"/>
          </a:xfrm>
          <a:prstGeom prst="roundRect">
            <a:avLst/>
          </a:prstGeom>
          <a:solidFill>
            <a:srgbClr val="FBE8D2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07808" y="1965960"/>
            <a:ext cx="1554480" cy="109728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08976" y="2148840"/>
            <a:ext cx="11521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33"/>
                </a:solidFill>
                <a:latin typeface="Arial"/>
              </a:rPr>
              <a:t>2. Preparar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08976" y="2606039"/>
            <a:ext cx="1152144" cy="68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727C"/>
                </a:solidFill>
                <a:latin typeface="Arial"/>
              </a:rPr>
              <a:t>O comando git add separa o que vai entrar no proximo salvamento.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331720"/>
            <a:ext cx="320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2F7F79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5480" y="1965960"/>
            <a:ext cx="1234440" cy="1508760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55480" y="1965960"/>
            <a:ext cx="1234440" cy="109728"/>
          </a:xfrm>
          <a:prstGeom prst="rect">
            <a:avLst/>
          </a:prstGeom>
          <a:solidFill>
            <a:srgbClr val="20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56648" y="2148840"/>
            <a:ext cx="8321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33"/>
                </a:solidFill>
                <a:latin typeface="Arial"/>
              </a:rPr>
              <a:t>3. Commitar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648" y="2606039"/>
            <a:ext cx="832104" cy="68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727C"/>
                </a:solidFill>
                <a:latin typeface="Arial"/>
              </a:rPr>
              <a:t>O commit cria um ponto do historico com mensagem.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3886200"/>
            <a:ext cx="4983480" cy="1554480"/>
          </a:xfrm>
          <a:prstGeom prst="roundRect">
            <a:avLst/>
          </a:prstGeom>
          <a:solidFill>
            <a:srgbClr val="162029"/>
          </a:solidFill>
          <a:ln w="12700">
            <a:solidFill>
              <a:srgbClr val="243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06440" y="3886200"/>
            <a:ext cx="4983480" cy="310896"/>
          </a:xfrm>
          <a:prstGeom prst="rect">
            <a:avLst/>
          </a:prstGeom>
          <a:solidFill>
            <a:srgbClr val="20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52744" y="3941063"/>
            <a:ext cx="46908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Comandos que aparecem na aula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07607" y="4361688"/>
            <a:ext cx="4581144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>
                <a:solidFill>
                  <a:srgbClr val="D8F6E7"/>
                </a:solidFill>
                <a:latin typeface="Courier New"/>
              </a:rPr>
              <a:t>git status
git add README.md
git commit -m "Cria README"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2920" y="6419088"/>
            <a:ext cx="11155680" cy="0"/>
          </a:xfrm>
          <a:prstGeom prst="line">
            <a:avLst/>
          </a:prstGeom>
          <a:ln w="12700">
            <a:solidFill>
              <a:srgbClr val="D9D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30352" y="647395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727C"/>
                </a:solidFill>
                <a:latin typeface="Arial"/>
              </a:rPr>
              <a:t>Git do zero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73952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727C"/>
                </a:solidFill>
                <a:latin typeface="Arial"/>
              </a:rPr>
              <a:t>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463040" cy="310896"/>
          </a:xfrm>
          <a:prstGeom prst="round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47472"/>
            <a:ext cx="13167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ROTEIRO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046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F2A33"/>
                </a:solidFill>
                <a:latin typeface="Arial"/>
              </a:rPr>
              <a:t>O que vamos aprender hoje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727C"/>
                </a:solidFill>
                <a:latin typeface="Arial"/>
              </a:rPr>
              <a:t>Objetivo: sair do zero e entender o fluxo basico do Git.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55680" cy="0"/>
          </a:xfrm>
          <a:prstGeom prst="line">
            <a:avLst/>
          </a:prstGeom>
          <a:ln w="12700">
            <a:solidFill>
              <a:srgbClr val="D9D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47395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727C"/>
                </a:solidFill>
                <a:latin typeface="Arial"/>
              </a:rPr>
              <a:t>Git do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727C"/>
                </a:solidFill>
                <a:latin typeface="Arial"/>
              </a:rPr>
              <a:t>2/13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154680" cy="16002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315468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874520"/>
            <a:ext cx="27523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33"/>
                </a:solidFill>
                <a:latin typeface="Arial"/>
              </a:rPr>
              <a:t>O que e Git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331720"/>
            <a:ext cx="27523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727C"/>
                </a:solidFill>
                <a:latin typeface="Arial"/>
              </a:rPr>
              <a:t>Por que ele existe e por que ajuda voce.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1691640"/>
            <a:ext cx="3154680" cy="1600200"/>
          </a:xfrm>
          <a:prstGeom prst="roundRect">
            <a:avLst/>
          </a:prstGeom>
          <a:solidFill>
            <a:srgbClr val="FBE8D2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9080" y="1691640"/>
            <a:ext cx="315468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1874520"/>
            <a:ext cx="27523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33"/>
                </a:solidFill>
                <a:latin typeface="Arial"/>
              </a:rPr>
              <a:t>Repositorio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2331720"/>
            <a:ext cx="27523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727C"/>
                </a:solidFill>
                <a:latin typeface="Arial"/>
              </a:rPr>
              <a:t>O que significa iniciar um projeto com Git.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1691640"/>
            <a:ext cx="3154680" cy="1600200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1691640"/>
            <a:ext cx="315468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9248" y="1874520"/>
            <a:ext cx="27523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33"/>
                </a:solidFill>
                <a:latin typeface="Arial"/>
              </a:rPr>
              <a:t>Commit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2331720"/>
            <a:ext cx="27523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727C"/>
                </a:solidFill>
                <a:latin typeface="Arial"/>
              </a:rPr>
              <a:t>Como salvar um ponto do historico.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94760"/>
            <a:ext cx="3154680" cy="1600200"/>
          </a:xfrm>
          <a:prstGeom prst="roundRect">
            <a:avLst/>
          </a:prstGeom>
          <a:solidFill>
            <a:srgbClr val="DCEEEB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794760"/>
            <a:ext cx="315468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3977640"/>
            <a:ext cx="27523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33"/>
                </a:solidFill>
                <a:latin typeface="Arial"/>
              </a:rPr>
              <a:t>Status e 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434840"/>
            <a:ext cx="27523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727C"/>
                </a:solidFill>
                <a:latin typeface="Arial"/>
              </a:rPr>
              <a:t>Como ler o que esta acontecendo.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69080" y="3794760"/>
            <a:ext cx="3154680" cy="16002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69080" y="3794760"/>
            <a:ext cx="315468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0248" y="3977640"/>
            <a:ext cx="27523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33"/>
                </a:solidFill>
                <a:latin typeface="Arial"/>
              </a:rPr>
              <a:t>Branches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0248" y="4434840"/>
            <a:ext cx="27523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727C"/>
                </a:solidFill>
                <a:latin typeface="Arial"/>
              </a:rPr>
              <a:t>Como testar sem baguncar a linha principal.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3794760"/>
            <a:ext cx="3154680" cy="1600200"/>
          </a:xfrm>
          <a:prstGeom prst="roundRect">
            <a:avLst/>
          </a:prstGeom>
          <a:solidFill>
            <a:srgbClr val="FBE8D2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98079" y="3794760"/>
            <a:ext cx="315468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99248" y="3977640"/>
            <a:ext cx="27523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33"/>
                </a:solidFill>
                <a:latin typeface="Arial"/>
              </a:rPr>
              <a:t>GitHub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9248" y="4434840"/>
            <a:ext cx="27523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727C"/>
                </a:solidFill>
                <a:latin typeface="Arial"/>
              </a:rPr>
              <a:t>Como enviar e receber mudancas pela internet.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463040" cy="310896"/>
          </a:xfrm>
          <a:prstGeom prst="round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47472"/>
            <a:ext cx="13167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CONCEITO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046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F2A33"/>
                </a:solidFill>
                <a:latin typeface="Arial"/>
              </a:rPr>
              <a:t>O que e Git?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727C"/>
                </a:solidFill>
                <a:latin typeface="Arial"/>
              </a:rPr>
              <a:t>Explique com uma analogia simples antes de mostrar qualquer comando.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55680" cy="0"/>
          </a:xfrm>
          <a:prstGeom prst="line">
            <a:avLst/>
          </a:prstGeom>
          <a:ln w="12700">
            <a:solidFill>
              <a:srgbClr val="D9D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47395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727C"/>
                </a:solidFill>
                <a:latin typeface="Arial"/>
              </a:rPr>
              <a:t>Git do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727C"/>
                </a:solidFill>
                <a:latin typeface="Arial"/>
              </a:rPr>
              <a:t>3/13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00200"/>
            <a:ext cx="5486400" cy="4206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1F2A33"/>
                </a:solidFill>
                <a:latin typeface="Arial"/>
              </a:rPr>
              <a:t>Git guarda versoes do seu projeto.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66727C"/>
                </a:solidFill>
                <a:latin typeface="Arial"/>
              </a:rPr>
              <a:t>Pense nele como um historico inteligente: voce salva momentos importantes, consegue voltar atras e enxerga exatamente o que mudou.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840480"/>
            <a:ext cx="4663440" cy="1417320"/>
          </a:xfrm>
          <a:prstGeom prst="roundRect">
            <a:avLst/>
          </a:prstGeom>
          <a:solidFill>
            <a:srgbClr val="DCEEEB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840480"/>
            <a:ext cx="466344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023360"/>
            <a:ext cx="426110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33"/>
                </a:solidFill>
                <a:latin typeface="Arial"/>
              </a:rPr>
              <a:t>Frase boa para a aula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4480560"/>
            <a:ext cx="4261103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6727C"/>
                </a:solidFill>
                <a:latin typeface="Arial"/>
              </a:rPr>
              <a:t>Git nao e uma pasta magica. Ele e um historico organizado da sua pasta.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1737360"/>
            <a:ext cx="4846320" cy="1078992"/>
          </a:xfrm>
          <a:prstGeom prst="roundRect">
            <a:avLst/>
          </a:prstGeom>
          <a:solidFill>
            <a:srgbClr val="FBE8D2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7960" y="1737360"/>
            <a:ext cx="484632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39128" y="1920240"/>
            <a:ext cx="44439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33"/>
                </a:solidFill>
                <a:latin typeface="Arial"/>
              </a:rPr>
              <a:t>Historico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2377439"/>
            <a:ext cx="4443983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727C"/>
                </a:solidFill>
                <a:latin typeface="Arial"/>
              </a:rPr>
              <a:t>Voce sabe quem mudou, quando mudou e o que mudou.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090672"/>
            <a:ext cx="4846320" cy="1078992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37960" y="3090672"/>
            <a:ext cx="484632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39128" y="3273552"/>
            <a:ext cx="44439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33"/>
                </a:solidFill>
                <a:latin typeface="Arial"/>
              </a:rPr>
              <a:t>Seguranca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3730752"/>
            <a:ext cx="4443983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727C"/>
                </a:solidFill>
                <a:latin typeface="Arial"/>
              </a:rPr>
              <a:t>Se der ruim, fica mais facil voltar para um estado bom.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4443983"/>
            <a:ext cx="4846320" cy="107899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37960" y="4443983"/>
            <a:ext cx="484632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39128" y="4626864"/>
            <a:ext cx="44439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33"/>
                </a:solidFill>
                <a:latin typeface="Arial"/>
              </a:rPr>
              <a:t>Colaboracao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9128" y="5084064"/>
            <a:ext cx="4443983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727C"/>
                </a:solidFill>
                <a:latin typeface="Arial"/>
              </a:rPr>
              <a:t>Mais de uma pessoa consegue trabalhar sem caos.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463040" cy="310896"/>
          </a:xfrm>
          <a:prstGeom prst="round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47472"/>
            <a:ext cx="13167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046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F2A33"/>
                </a:solidFill>
                <a:latin typeface="Arial"/>
              </a:rPr>
              <a:t>Tres conceitos que precisam ficar claros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727C"/>
                </a:solidFill>
                <a:latin typeface="Arial"/>
              </a:rPr>
              <a:t>Use este slide como mapa mental do resto da apresentacao.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55680" cy="0"/>
          </a:xfrm>
          <a:prstGeom prst="line">
            <a:avLst/>
          </a:prstGeom>
          <a:ln w="12700">
            <a:solidFill>
              <a:srgbClr val="D9D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47395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727C"/>
                </a:solidFill>
                <a:latin typeface="Arial"/>
              </a:rPr>
              <a:t>Git do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727C"/>
                </a:solidFill>
                <a:latin typeface="Arial"/>
              </a:rPr>
              <a:t>4/13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2788920" cy="1965960"/>
          </a:xfrm>
          <a:prstGeom prst="roundRect">
            <a:avLst/>
          </a:prstGeom>
          <a:solidFill>
            <a:srgbClr val="DCEEEB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03120"/>
            <a:ext cx="278892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286000"/>
            <a:ext cx="23865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2A33"/>
                </a:solidFill>
                <a:latin typeface="Arial"/>
              </a:rPr>
              <a:t>Working directory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743200"/>
            <a:ext cx="23865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6727C"/>
                </a:solidFill>
                <a:latin typeface="Arial"/>
              </a:rPr>
              <a:t>Onde voce edita os arquivos agora.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2103120"/>
            <a:ext cx="2788920" cy="1965960"/>
          </a:xfrm>
          <a:prstGeom prst="roundRect">
            <a:avLst/>
          </a:prstGeom>
          <a:solidFill>
            <a:srgbClr val="FBE8D2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9080" y="2103120"/>
            <a:ext cx="278892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2286000"/>
            <a:ext cx="23865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2A33"/>
                </a:solidFill>
                <a:latin typeface="Arial"/>
              </a:rPr>
              <a:t>Stage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2743200"/>
            <a:ext cx="23865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6727C"/>
                </a:solidFill>
                <a:latin typeface="Arial"/>
              </a:rPr>
              <a:t>Area de preparo do proximo commit.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103120"/>
            <a:ext cx="2788920" cy="1965960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2103120"/>
            <a:ext cx="278892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7808" y="2286000"/>
            <a:ext cx="23865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2A33"/>
                </a:solidFill>
                <a:latin typeface="Arial"/>
              </a:rPr>
              <a:t>Commit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2743200"/>
            <a:ext cx="23865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6727C"/>
                </a:solidFill>
                <a:latin typeface="Arial"/>
              </a:rPr>
              <a:t>Foto com legenda do projeto naquele momento.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74320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2F7F79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74320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2F7F79"/>
                </a:solidFill>
                <a:latin typeface="Arial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08760" y="4754880"/>
            <a:ext cx="9144000" cy="8686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08760" y="4754880"/>
            <a:ext cx="9144000" cy="109728"/>
          </a:xfrm>
          <a:prstGeom prst="rect">
            <a:avLst/>
          </a:prstGeom>
          <a:solidFill>
            <a:srgbClr val="20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09928" y="4937760"/>
            <a:ext cx="874166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33"/>
                </a:solidFill>
                <a:latin typeface="Arial"/>
              </a:rPr>
              <a:t>Regra mental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9928" y="5394960"/>
            <a:ext cx="8741664" cy="45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6727C"/>
                </a:solidFill>
                <a:latin typeface="Arial"/>
              </a:rPr>
              <a:t>Editar → preparar → salvar. Se o aluno decorar isso, metade da aula ja funcionou.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463040" cy="310896"/>
          </a:xfrm>
          <a:prstGeom prst="round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47472"/>
            <a:ext cx="13167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INICIO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046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F2A33"/>
                </a:solidFill>
                <a:latin typeface="Arial"/>
              </a:rPr>
              <a:t>Antes de comecar no terminal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727C"/>
                </a:solidFill>
                <a:latin typeface="Arial"/>
              </a:rPr>
              <a:t>Mostre so o necessario para a pessoa se localizar.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55680" cy="0"/>
          </a:xfrm>
          <a:prstGeom prst="line">
            <a:avLst/>
          </a:prstGeom>
          <a:ln w="12700">
            <a:solidFill>
              <a:srgbClr val="D9D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47395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727C"/>
                </a:solidFill>
                <a:latin typeface="Arial"/>
              </a:rPr>
              <a:t>Git do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727C"/>
                </a:solidFill>
                <a:latin typeface="Arial"/>
              </a:rPr>
              <a:t>5/13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886200" cy="29260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737360"/>
            <a:ext cx="388620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348386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33"/>
                </a:solidFill>
                <a:latin typeface="Arial"/>
              </a:rPr>
              <a:t>Checklist rapido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377439"/>
            <a:ext cx="3483864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6727C"/>
                </a:solidFill>
                <a:latin typeface="Arial"/>
              </a:rPr>
              <a:t>1. Instale o Git.
2. Abra o terminal.
3. Entre na pasta da aula.
4. Confirme que o Git responde.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8006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F7F79"/>
                </a:solidFill>
                <a:latin typeface="Arial"/>
              </a:rPr>
              <a:t>• </a:t>
            </a:r>
            <a:r>
              <a:rPr sz="1600">
                <a:solidFill>
                  <a:srgbClr val="1F2A33"/>
                </a:solidFill>
                <a:latin typeface="Arial"/>
              </a:rPr>
              <a:t>Use git --version para ver se a instalacao esta ok.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2F7F79"/>
                </a:solidFill>
                <a:latin typeface="Arial"/>
              </a:rPr>
              <a:t>• </a:t>
            </a:r>
            <a:r>
              <a:rPr sz="1600">
                <a:solidFill>
                  <a:srgbClr val="1F2A33"/>
                </a:solidFill>
                <a:latin typeface="Arial"/>
              </a:rPr>
              <a:t>Use pwd para saber em que pasta voce esta.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2F7F79"/>
                </a:solidFill>
                <a:latin typeface="Arial"/>
              </a:rPr>
              <a:t>• </a:t>
            </a:r>
            <a:r>
              <a:rPr sz="1600">
                <a:solidFill>
                  <a:srgbClr val="1F2A33"/>
                </a:solidFill>
                <a:latin typeface="Arial"/>
              </a:rPr>
              <a:t>Use ls para listar os arquivos da pasta atual.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1783080"/>
            <a:ext cx="6217920" cy="2331720"/>
          </a:xfrm>
          <a:prstGeom prst="roundRect">
            <a:avLst/>
          </a:prstGeom>
          <a:solidFill>
            <a:srgbClr val="162029"/>
          </a:solidFill>
          <a:ln w="12700">
            <a:solidFill>
              <a:srgbClr val="243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3480" y="1783080"/>
            <a:ext cx="6217920" cy="310896"/>
          </a:xfrm>
          <a:prstGeom prst="rect">
            <a:avLst/>
          </a:prstGeom>
          <a:solidFill>
            <a:srgbClr val="20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9784" y="1837943"/>
            <a:ext cx="5925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Primeiros comandos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4648" y="2258568"/>
            <a:ext cx="5815583" cy="167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>
                <a:solidFill>
                  <a:srgbClr val="D8F6E7"/>
                </a:solidFill>
                <a:latin typeface="Courier New"/>
              </a:rPr>
              <a:t>git --version
pwd
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80" y="4389120"/>
            <a:ext cx="6217920" cy="1097280"/>
          </a:xfrm>
          <a:prstGeom prst="roundRect">
            <a:avLst/>
          </a:prstGeom>
          <a:solidFill>
            <a:srgbClr val="DCEEEB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83480" y="4389120"/>
            <a:ext cx="6217920" cy="109728"/>
          </a:xfrm>
          <a:prstGeom prst="rect">
            <a:avLst/>
          </a:prstGeom>
          <a:solidFill>
            <a:srgbClr val="20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84648" y="4572000"/>
            <a:ext cx="58155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33"/>
                </a:solidFill>
                <a:latin typeface="Arial"/>
              </a:rPr>
              <a:t>O que voce quer ouvir do computador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4648" y="5029200"/>
            <a:ext cx="5815583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6727C"/>
                </a:solidFill>
                <a:latin typeface="Arial"/>
              </a:rPr>
              <a:t>Se aparecer um numero de versao, o Git esta pronto para a aula.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463040" cy="310896"/>
          </a:xfrm>
          <a:prstGeom prst="round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47472"/>
            <a:ext cx="13167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PRATICA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046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F2A33"/>
                </a:solidFill>
                <a:latin typeface="Arial"/>
              </a:rPr>
              <a:t>Criando seu primeiro repositorio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727C"/>
                </a:solidFill>
                <a:latin typeface="Arial"/>
              </a:rPr>
              <a:t>Aqui o aluno ve pela primeira vez o git init em contexto real.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55680" cy="0"/>
          </a:xfrm>
          <a:prstGeom prst="line">
            <a:avLst/>
          </a:prstGeom>
          <a:ln w="12700">
            <a:solidFill>
              <a:srgbClr val="D9D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47395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727C"/>
                </a:solidFill>
                <a:latin typeface="Arial"/>
              </a:rPr>
              <a:t>Git do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727C"/>
                </a:solidFill>
                <a:latin typeface="Arial"/>
              </a:rPr>
              <a:t>6/13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645920"/>
            <a:ext cx="3794760" cy="80467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645920"/>
            <a:ext cx="379476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828800"/>
            <a:ext cx="33924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2A33"/>
                </a:solidFill>
                <a:latin typeface="Arial"/>
              </a:rPr>
              <a:t>Criar pasta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286000"/>
            <a:ext cx="3392424" cy="-18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6727C"/>
                </a:solidFill>
                <a:latin typeface="Arial"/>
              </a:rPr>
              <a:t>mkdir aula-git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651760"/>
            <a:ext cx="3794760" cy="804672"/>
          </a:xfrm>
          <a:prstGeom prst="roundRect">
            <a:avLst/>
          </a:prstGeom>
          <a:solidFill>
            <a:srgbClr val="FBE8D2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8" y="2651760"/>
            <a:ext cx="379476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2834640"/>
            <a:ext cx="33924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2A33"/>
                </a:solidFill>
                <a:latin typeface="Arial"/>
              </a:rPr>
              <a:t>Entrar na pasta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291840"/>
            <a:ext cx="3392424" cy="-18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6727C"/>
                </a:solidFill>
                <a:latin typeface="Arial"/>
              </a:rPr>
              <a:t>cd aula-git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657600"/>
            <a:ext cx="3794760" cy="80467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3657600"/>
            <a:ext cx="379476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840480"/>
            <a:ext cx="33924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2A33"/>
                </a:solidFill>
                <a:latin typeface="Arial"/>
              </a:rPr>
              <a:t>Iniciar Git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4297680"/>
            <a:ext cx="3392424" cy="-18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6727C"/>
                </a:solidFill>
                <a:latin typeface="Arial"/>
              </a:rPr>
              <a:t>git init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663440"/>
            <a:ext cx="3794760" cy="804672"/>
          </a:xfrm>
          <a:prstGeom prst="roundRect">
            <a:avLst/>
          </a:prstGeom>
          <a:solidFill>
            <a:srgbClr val="FBE8D2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8" y="4663440"/>
            <a:ext cx="379476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846320"/>
            <a:ext cx="33924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2A33"/>
                </a:solidFill>
                <a:latin typeface="Arial"/>
              </a:rPr>
              <a:t>Conferir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5303520"/>
            <a:ext cx="3392424" cy="-18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6727C"/>
                </a:solidFill>
                <a:latin typeface="Arial"/>
              </a:rPr>
              <a:t>git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83480" y="1645920"/>
            <a:ext cx="6172200" cy="3017520"/>
          </a:xfrm>
          <a:prstGeom prst="roundRect">
            <a:avLst/>
          </a:prstGeom>
          <a:solidFill>
            <a:srgbClr val="162029"/>
          </a:solidFill>
          <a:ln w="12700">
            <a:solidFill>
              <a:srgbClr val="243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3480" y="1645920"/>
            <a:ext cx="6172200" cy="310896"/>
          </a:xfrm>
          <a:prstGeom prst="rect">
            <a:avLst/>
          </a:prstGeom>
          <a:solidFill>
            <a:srgbClr val="20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9784" y="1700784"/>
            <a:ext cx="5879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Sequencia completa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4648" y="2121408"/>
            <a:ext cx="5769864" cy="2359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>
                <a:solidFill>
                  <a:srgbClr val="D8F6E7"/>
                </a:solidFill>
                <a:latin typeface="Courier New"/>
              </a:rPr>
              <a:t>mkdir aula-git
cd aula-git
git init
git status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83480" y="4800600"/>
            <a:ext cx="6172200" cy="960120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3480" y="4800600"/>
            <a:ext cx="6172200" cy="109728"/>
          </a:xfrm>
          <a:prstGeom prst="rect">
            <a:avLst/>
          </a:prstGeom>
          <a:solidFill>
            <a:srgbClr val="20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84648" y="4983480"/>
            <a:ext cx="576986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33"/>
                </a:solidFill>
                <a:latin typeface="Arial"/>
              </a:rPr>
              <a:t>Leitura esperada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4648" y="5440680"/>
            <a:ext cx="57698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727C"/>
                </a:solidFill>
                <a:latin typeface="Arial"/>
              </a:rPr>
              <a:t>Depois do git init, o Git cria um repositorio vazio. Depois do git status, ele diz que ainda nao existe nada para commitar.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463040" cy="310896"/>
          </a:xfrm>
          <a:prstGeom prst="round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47472"/>
            <a:ext cx="13167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PRATICA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046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F2A33"/>
                </a:solidFill>
                <a:latin typeface="Arial"/>
              </a:rPr>
              <a:t>Como salvar mudancas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727C"/>
                </a:solidFill>
                <a:latin typeface="Arial"/>
              </a:rPr>
              <a:t>Este e o ciclo principal que voce vai repetir o tempo todo.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55680" cy="0"/>
          </a:xfrm>
          <a:prstGeom prst="line">
            <a:avLst/>
          </a:prstGeom>
          <a:ln w="12700">
            <a:solidFill>
              <a:srgbClr val="D9D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47395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727C"/>
                </a:solidFill>
                <a:latin typeface="Arial"/>
              </a:rPr>
              <a:t>Git do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727C"/>
                </a:solidFill>
                <a:latin typeface="Arial"/>
              </a:rPr>
              <a:t>7/13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19072"/>
            <a:ext cx="2743200" cy="1463040"/>
          </a:xfrm>
          <a:prstGeom prst="roundRect">
            <a:avLst/>
          </a:prstGeom>
          <a:solidFill>
            <a:srgbClr val="DCEEEB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19072"/>
            <a:ext cx="274320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901952"/>
            <a:ext cx="234086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2A33"/>
                </a:solidFill>
                <a:latin typeface="Arial"/>
              </a:rPr>
              <a:t>1. Editar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359152"/>
            <a:ext cx="234086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727C"/>
                </a:solidFill>
                <a:latin typeface="Arial"/>
              </a:rPr>
              <a:t>Voce cria ou altera um arquivo.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1719072"/>
            <a:ext cx="2743200" cy="1463040"/>
          </a:xfrm>
          <a:prstGeom prst="roundRect">
            <a:avLst/>
          </a:prstGeom>
          <a:solidFill>
            <a:srgbClr val="FBE8D2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9080" y="1719072"/>
            <a:ext cx="274320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1901952"/>
            <a:ext cx="234086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2A33"/>
                </a:solidFill>
                <a:latin typeface="Arial"/>
              </a:rPr>
              <a:t>2. git add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2359152"/>
            <a:ext cx="234086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727C"/>
                </a:solidFill>
                <a:latin typeface="Arial"/>
              </a:rPr>
              <a:t>Voce escolhe o que vai entrar no proximo salvamento.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1719072"/>
            <a:ext cx="2743200" cy="1463040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20" y="1719072"/>
            <a:ext cx="274320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1901952"/>
            <a:ext cx="234086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2A33"/>
                </a:solidFill>
                <a:latin typeface="Arial"/>
              </a:rPr>
              <a:t>3. git commit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2088" y="2359152"/>
            <a:ext cx="234086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727C"/>
                </a:solidFill>
                <a:latin typeface="Arial"/>
              </a:rPr>
              <a:t>Voce grava um ponto do historico com mensagem.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1024" y="2194560"/>
            <a:ext cx="256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2F7F79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2008" y="2194560"/>
            <a:ext cx="256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2F7F79"/>
                </a:solidFill>
                <a:latin typeface="Arial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794760"/>
            <a:ext cx="5577840" cy="1783080"/>
          </a:xfrm>
          <a:prstGeom prst="roundRect">
            <a:avLst/>
          </a:prstGeom>
          <a:solidFill>
            <a:srgbClr val="162029"/>
          </a:solidFill>
          <a:ln w="12700">
            <a:solidFill>
              <a:srgbClr val="243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3794760"/>
            <a:ext cx="5577840" cy="310896"/>
          </a:xfrm>
          <a:prstGeom prst="rect">
            <a:avLst/>
          </a:prstGeom>
          <a:solidFill>
            <a:srgbClr val="20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3849624"/>
            <a:ext cx="52852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Exemplo para mostrar ao vivo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270248"/>
            <a:ext cx="5175503" cy="1124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>
                <a:solidFill>
                  <a:srgbClr val="D8F6E7"/>
                </a:solidFill>
                <a:latin typeface="Courier New"/>
              </a:rPr>
              <a:t>echo "# Aula Git" &gt; README.md
git add README.md
git commit -m "Cria README inicial"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20840" y="3794760"/>
            <a:ext cx="4343400" cy="17830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20840" y="3794760"/>
            <a:ext cx="4343400" cy="109728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22007" y="3977640"/>
            <a:ext cx="394106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33"/>
                </a:solidFill>
                <a:latin typeface="Arial"/>
              </a:rPr>
              <a:t>Mensagem boa de commit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2007" y="4434840"/>
            <a:ext cx="3941063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6727C"/>
                </a:solidFill>
                <a:latin typeface="Arial"/>
              </a:rPr>
              <a:t>Escreva o que mudou de forma curta e direta. Exemplo: Cria README inicial.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463040" cy="310896"/>
          </a:xfrm>
          <a:prstGeom prst="round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47472"/>
            <a:ext cx="13167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LEITURA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046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F2A33"/>
                </a:solidFill>
                <a:latin typeface="Arial"/>
              </a:rPr>
              <a:t>Os 3 comandos que voce mais vai usar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727C"/>
                </a:solidFill>
                <a:latin typeface="Arial"/>
              </a:rPr>
              <a:t>Status, log e diff ajudam o aluno a ganhar confianca.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55680" cy="0"/>
          </a:xfrm>
          <a:prstGeom prst="line">
            <a:avLst/>
          </a:prstGeom>
          <a:ln w="12700">
            <a:solidFill>
              <a:srgbClr val="D9D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47395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727C"/>
                </a:solidFill>
                <a:latin typeface="Arial"/>
              </a:rPr>
              <a:t>Git do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727C"/>
                </a:solidFill>
                <a:latin typeface="Arial"/>
              </a:rPr>
              <a:t>8/13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3200400" cy="2011680"/>
          </a:xfrm>
          <a:prstGeom prst="roundRect">
            <a:avLst/>
          </a:prstGeom>
          <a:solidFill>
            <a:srgbClr val="DCEEEB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320040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011680"/>
            <a:ext cx="279806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33"/>
                </a:solidFill>
                <a:latin typeface="Arial"/>
              </a:rPr>
              <a:t>git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468880"/>
            <a:ext cx="279806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6727C"/>
                </a:solidFill>
                <a:latin typeface="Arial"/>
              </a:rPr>
              <a:t>Mostra o que mudou e o que ainda falta salvar.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79" y="1828800"/>
            <a:ext cx="3200400" cy="2011680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79" y="1828800"/>
            <a:ext cx="320040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7" y="2011680"/>
            <a:ext cx="279806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33"/>
                </a:solidFill>
                <a:latin typeface="Arial"/>
              </a:rPr>
              <a:t>git log --oneline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7" y="2468880"/>
            <a:ext cx="279806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6727C"/>
                </a:solidFill>
                <a:latin typeface="Arial"/>
              </a:rPr>
              <a:t>Mostra o historico em formato curto e facil de ler.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19" y="1828800"/>
            <a:ext cx="3200400" cy="2011680"/>
          </a:xfrm>
          <a:prstGeom prst="roundRect">
            <a:avLst/>
          </a:prstGeom>
          <a:solidFill>
            <a:srgbClr val="FBE8D2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19" y="1828800"/>
            <a:ext cx="320040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2011680"/>
            <a:ext cx="279806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33"/>
                </a:solidFill>
                <a:latin typeface="Arial"/>
              </a:rPr>
              <a:t>git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2468880"/>
            <a:ext cx="279806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6727C"/>
                </a:solidFill>
                <a:latin typeface="Arial"/>
              </a:rPr>
              <a:t>Mostra linha por linha o que mudou no arquivo.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48840" y="4297680"/>
            <a:ext cx="7818120" cy="1143000"/>
          </a:xfrm>
          <a:prstGeom prst="roundRect">
            <a:avLst/>
          </a:prstGeom>
          <a:solidFill>
            <a:srgbClr val="162029"/>
          </a:solidFill>
          <a:ln w="12700">
            <a:solidFill>
              <a:srgbClr val="243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48840" y="4297680"/>
            <a:ext cx="7818120" cy="310896"/>
          </a:xfrm>
          <a:prstGeom prst="rect">
            <a:avLst/>
          </a:prstGeom>
          <a:solidFill>
            <a:srgbClr val="20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95144" y="4352544"/>
            <a:ext cx="7525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Comandos para repetir varias vezes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50008" y="4773168"/>
            <a:ext cx="741578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>
                <a:solidFill>
                  <a:srgbClr val="D8F6E7"/>
                </a:solidFill>
                <a:latin typeface="Courier New"/>
              </a:rPr>
              <a:t>git status
git diff
git log --oneline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463040" cy="310896"/>
          </a:xfrm>
          <a:prstGeom prst="round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47472"/>
            <a:ext cx="13167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BRANCHES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046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F2A33"/>
                </a:solidFill>
                <a:latin typeface="Arial"/>
              </a:rPr>
              <a:t>Branches sem drama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727C"/>
                </a:solidFill>
                <a:latin typeface="Arial"/>
              </a:rPr>
              <a:t>Apresente branch como um caminho paralelo, nao como um misterio.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55680" cy="0"/>
          </a:xfrm>
          <a:prstGeom prst="line">
            <a:avLst/>
          </a:prstGeom>
          <a:ln w="12700">
            <a:solidFill>
              <a:srgbClr val="D9D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47395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727C"/>
                </a:solidFill>
                <a:latin typeface="Arial"/>
              </a:rPr>
              <a:t>Git do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727C"/>
                </a:solidFill>
                <a:latin typeface="Arial"/>
              </a:rPr>
              <a:t>9/13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4572000" cy="1920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457200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965960"/>
            <a:ext cx="416966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F2A33"/>
                </a:solidFill>
                <a:latin typeface="Arial"/>
              </a:rPr>
              <a:t>Analogia que funciona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423160"/>
            <a:ext cx="416966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6727C"/>
                </a:solidFill>
                <a:latin typeface="Arial"/>
              </a:rPr>
              <a:t>Uma branch e um rascunho paralelo. Voce testa uma ideia sem mexer direto na linha principal do projeto.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43434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F7F79"/>
                </a:solidFill>
                <a:latin typeface="Arial"/>
              </a:rPr>
              <a:t>• </a:t>
            </a:r>
            <a:r>
              <a:rPr sz="1600">
                <a:solidFill>
                  <a:srgbClr val="1F2A33"/>
                </a:solidFill>
                <a:latin typeface="Arial"/>
              </a:rPr>
              <a:t>Crie branch para experimentar com seguranca.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2F7F79"/>
                </a:solidFill>
                <a:latin typeface="Arial"/>
              </a:rPr>
              <a:t>• </a:t>
            </a:r>
            <a:r>
              <a:rPr sz="1600">
                <a:solidFill>
                  <a:srgbClr val="1F2A33"/>
                </a:solidFill>
                <a:latin typeface="Arial"/>
              </a:rPr>
              <a:t>Volte para main quando quiser comparar ou seguir o fluxo normal.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2F7F79"/>
                </a:solidFill>
                <a:latin typeface="Arial"/>
              </a:rPr>
              <a:t>• </a:t>
            </a:r>
            <a:r>
              <a:rPr sz="1600">
                <a:solidFill>
                  <a:srgbClr val="1F2A33"/>
                </a:solidFill>
                <a:latin typeface="Arial"/>
              </a:rPr>
              <a:t>No mundo real, depois voce junta tudo com merge ou pull request.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1874519"/>
            <a:ext cx="5166360" cy="1691640"/>
          </a:xfrm>
          <a:prstGeom prst="roundRect">
            <a:avLst/>
          </a:prstGeom>
          <a:solidFill>
            <a:srgbClr val="162029"/>
          </a:solidFill>
          <a:ln w="12700">
            <a:solidFill>
              <a:srgbClr val="243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06440" y="1874519"/>
            <a:ext cx="5166360" cy="310896"/>
          </a:xfrm>
          <a:prstGeom prst="rect">
            <a:avLst/>
          </a:prstGeom>
          <a:solidFill>
            <a:srgbClr val="20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52744" y="1929384"/>
            <a:ext cx="4873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Comandos minimos para ensinar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7607" y="2350008"/>
            <a:ext cx="4764024" cy="1033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>
                <a:solidFill>
                  <a:srgbClr val="D8F6E7"/>
                </a:solidFill>
                <a:latin typeface="Courier New"/>
              </a:rPr>
              <a:t>git switch -c nova-ideia
git switch main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3977639"/>
            <a:ext cx="5166360" cy="1417320"/>
          </a:xfrm>
          <a:prstGeom prst="roundRect">
            <a:avLst/>
          </a:prstGeom>
          <a:solidFill>
            <a:srgbClr val="FBE8D2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06440" y="3977639"/>
            <a:ext cx="5166360" cy="109728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07607" y="4160520"/>
            <a:ext cx="47640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33"/>
                </a:solidFill>
                <a:latin typeface="Arial"/>
              </a:rPr>
              <a:t>Ideia principal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7607" y="4617720"/>
            <a:ext cx="476402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6727C"/>
                </a:solidFill>
                <a:latin typeface="Arial"/>
              </a:rPr>
              <a:t>No nivel iniciante, basta entender que branch = caminho paralelo de trabalho.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463040" cy="310896"/>
          </a:xfrm>
          <a:prstGeom prst="round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47472"/>
            <a:ext cx="13167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046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F2A33"/>
                </a:solidFill>
                <a:latin typeface="Arial"/>
              </a:rPr>
              <a:t>Git e GitHub: como se conectam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727C"/>
                </a:solidFill>
                <a:latin typeface="Arial"/>
              </a:rPr>
              <a:t>Mantenha a explicacao binaria: Git e local, GitHub e remoto.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55680" cy="0"/>
          </a:xfrm>
          <a:prstGeom prst="line">
            <a:avLst/>
          </a:prstGeom>
          <a:ln w="12700">
            <a:solidFill>
              <a:srgbClr val="D9D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47395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727C"/>
                </a:solidFill>
                <a:latin typeface="Arial"/>
              </a:rPr>
              <a:t>Git do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727C"/>
                </a:solidFill>
                <a:latin typeface="Arial"/>
              </a:rPr>
              <a:t>10/13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83080"/>
            <a:ext cx="3383280" cy="1508760"/>
          </a:xfrm>
          <a:prstGeom prst="roundRect">
            <a:avLst/>
          </a:prstGeom>
          <a:solidFill>
            <a:srgbClr val="DCEEEB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783080"/>
            <a:ext cx="3383280" cy="109728"/>
          </a:xfrm>
          <a:prstGeom prst="rect">
            <a:avLst/>
          </a:prstGeom>
          <a:solidFill>
            <a:srgbClr val="20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965960"/>
            <a:ext cx="29809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F2A33"/>
                </a:solidFill>
                <a:latin typeface="Arial"/>
              </a:rPr>
              <a:t>Git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423160"/>
            <a:ext cx="2980944" cy="68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6727C"/>
                </a:solidFill>
                <a:latin typeface="Arial"/>
              </a:rPr>
              <a:t>Roda no seu computador. E onde voce faz add, commit, log e branch.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240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2F7F79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783080"/>
            <a:ext cx="4389120" cy="1508760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1783080"/>
            <a:ext cx="438912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965960"/>
            <a:ext cx="39867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F2A33"/>
                </a:solidFill>
                <a:latin typeface="Arial"/>
              </a:rPr>
              <a:t>GitHub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8" y="2423160"/>
            <a:ext cx="3986783" cy="68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6727C"/>
                </a:solidFill>
                <a:latin typeface="Arial"/>
              </a:rPr>
              <a:t>Guarda o repositorio na internet para compartilhar, enviar e receber mudancas.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240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2F7F79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1783080"/>
            <a:ext cx="1691640" cy="1508760"/>
          </a:xfrm>
          <a:prstGeom prst="roundRect">
            <a:avLst/>
          </a:prstGeom>
          <a:solidFill>
            <a:srgbClr val="FBE8D2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46920" y="1783080"/>
            <a:ext cx="1691640" cy="109728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48088" y="1965960"/>
            <a:ext cx="12893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33"/>
                </a:solidFill>
                <a:latin typeface="Arial"/>
              </a:rPr>
              <a:t>Traduza assim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48088" y="2423160"/>
            <a:ext cx="1289304" cy="68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6727C"/>
                </a:solidFill>
                <a:latin typeface="Arial"/>
              </a:rPr>
              <a:t>push envia. pull traz.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25880" y="3840480"/>
            <a:ext cx="9692640" cy="1783080"/>
          </a:xfrm>
          <a:prstGeom prst="roundRect">
            <a:avLst/>
          </a:prstGeom>
          <a:solidFill>
            <a:srgbClr val="162029"/>
          </a:solidFill>
          <a:ln w="12700">
            <a:solidFill>
              <a:srgbClr val="243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25880" y="3840480"/>
            <a:ext cx="9692640" cy="310896"/>
          </a:xfrm>
          <a:prstGeom prst="rect">
            <a:avLst/>
          </a:prstGeom>
          <a:solidFill>
            <a:srgbClr val="20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72184" y="3895344"/>
            <a:ext cx="9400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Comandos que valem decorar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7048" y="4315968"/>
            <a:ext cx="9290304" cy="1124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>
                <a:solidFill>
                  <a:srgbClr val="D8F6E7"/>
                </a:solidFill>
                <a:latin typeface="Courier New"/>
              </a:rPr>
              <a:t>git remote add origin URL_DO_REPOSITORIO
git push -u origin main
git pull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463040" cy="310896"/>
          </a:xfrm>
          <a:prstGeom prst="round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47472"/>
            <a:ext cx="13167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ROTINA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046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F2A33"/>
                </a:solidFill>
                <a:latin typeface="Arial"/>
              </a:rPr>
              <a:t>Fluxo simples do dia a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727C"/>
                </a:solidFill>
                <a:latin typeface="Arial"/>
              </a:rPr>
              <a:t>Se o aluno decorar esta sequencia, ele ja consegue trabalhar em projetos pequenos.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55680" cy="0"/>
          </a:xfrm>
          <a:prstGeom prst="line">
            <a:avLst/>
          </a:prstGeom>
          <a:ln w="12700">
            <a:solidFill>
              <a:srgbClr val="D9D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47395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727C"/>
                </a:solidFill>
                <a:latin typeface="Arial"/>
              </a:rPr>
              <a:t>Git do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727C"/>
                </a:solidFill>
                <a:latin typeface="Arial"/>
              </a:rPr>
              <a:t>11/13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1965960"/>
            <a:ext cx="438912" cy="438912"/>
          </a:xfrm>
          <a:prstGeom prst="ellipse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039112"/>
            <a:ext cx="228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33856" y="1828800"/>
            <a:ext cx="1234440" cy="749808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33856" y="1828800"/>
            <a:ext cx="123444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5024" y="2011680"/>
            <a:ext cx="8321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2A33"/>
                </a:solidFill>
                <a:latin typeface="Arial"/>
              </a:rPr>
              <a:t>git pull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2468880"/>
            <a:ext cx="832104" cy="-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" b="0" i="0">
                <a:solidFill>
                  <a:srgbClr val="66727C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68296" y="194767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2F7F79"/>
                </a:solidFill>
                <a:latin typeface="Arial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2487168" y="1965960"/>
            <a:ext cx="438912" cy="438912"/>
          </a:xfrm>
          <a:prstGeom prst="ellipse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87752" y="2039112"/>
            <a:ext cx="228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54096" y="1828800"/>
            <a:ext cx="1234440" cy="74980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54096" y="1828800"/>
            <a:ext cx="123444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55264" y="2011680"/>
            <a:ext cx="8321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2A33"/>
                </a:solidFill>
                <a:latin typeface="Arial"/>
              </a:rPr>
              <a:t>editar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55264" y="2468880"/>
            <a:ext cx="832104" cy="-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" b="0" i="0">
                <a:solidFill>
                  <a:srgbClr val="66727C"/>
                </a:solidFill>
                <a:latin typeface="Arial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88536" y="194767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2F7F79"/>
                </a:solidFill>
                <a:latin typeface="Arial"/>
              </a:rPr>
              <a:t>→</a:t>
            </a:r>
          </a:p>
        </p:txBody>
      </p:sp>
      <p:sp>
        <p:nvSpPr>
          <p:cNvPr id="23" name="Oval 22"/>
          <p:cNvSpPr/>
          <p:nvPr/>
        </p:nvSpPr>
        <p:spPr>
          <a:xfrm>
            <a:off x="4407408" y="1965960"/>
            <a:ext cx="438912" cy="438912"/>
          </a:xfrm>
          <a:prstGeom prst="ellipse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7992" y="2039112"/>
            <a:ext cx="228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74336" y="1828800"/>
            <a:ext cx="1234440" cy="749808"/>
          </a:xfrm>
          <a:prstGeom prst="roundRect">
            <a:avLst/>
          </a:prstGeom>
          <a:solidFill>
            <a:srgbClr val="DCEEEB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74336" y="1828800"/>
            <a:ext cx="123444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75504" y="2011680"/>
            <a:ext cx="8321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2A33"/>
                </a:solidFill>
                <a:latin typeface="Arial"/>
              </a:rPr>
              <a:t>git 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5504" y="2468880"/>
            <a:ext cx="832104" cy="-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" b="0" i="0">
                <a:solidFill>
                  <a:srgbClr val="66727C"/>
                </a:solidFill>
                <a:latin typeface="Arial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8776" y="194767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2F7F79"/>
                </a:solidFill>
                <a:latin typeface="Arial"/>
              </a:rPr>
              <a:t>→</a:t>
            </a:r>
          </a:p>
        </p:txBody>
      </p:sp>
      <p:sp>
        <p:nvSpPr>
          <p:cNvPr id="30" name="Oval 29"/>
          <p:cNvSpPr/>
          <p:nvPr/>
        </p:nvSpPr>
        <p:spPr>
          <a:xfrm>
            <a:off x="6327648" y="1965960"/>
            <a:ext cx="438912" cy="438912"/>
          </a:xfrm>
          <a:prstGeom prst="ellipse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2039112"/>
            <a:ext cx="228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94576" y="1828800"/>
            <a:ext cx="1234440" cy="749808"/>
          </a:xfrm>
          <a:prstGeom prst="roundRect">
            <a:avLst/>
          </a:prstGeom>
          <a:solidFill>
            <a:srgbClr val="FBE8D2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94576" y="1828800"/>
            <a:ext cx="123444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95744" y="2011680"/>
            <a:ext cx="8321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2A33"/>
                </a:solidFill>
                <a:latin typeface="Arial"/>
              </a:rPr>
              <a:t>git add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95744" y="2468880"/>
            <a:ext cx="832104" cy="-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" b="0" i="0">
                <a:solidFill>
                  <a:srgbClr val="66727C"/>
                </a:solidFill>
                <a:latin typeface="Arial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9016" y="194767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2F7F79"/>
                </a:solidFill>
                <a:latin typeface="Arial"/>
              </a:rPr>
              <a:t>→</a:t>
            </a:r>
          </a:p>
        </p:txBody>
      </p:sp>
      <p:sp>
        <p:nvSpPr>
          <p:cNvPr id="37" name="Oval 36"/>
          <p:cNvSpPr/>
          <p:nvPr/>
        </p:nvSpPr>
        <p:spPr>
          <a:xfrm>
            <a:off x="8247888" y="1965960"/>
            <a:ext cx="438912" cy="438912"/>
          </a:xfrm>
          <a:prstGeom prst="ellipse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48471" y="2039112"/>
            <a:ext cx="228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14815" y="1828800"/>
            <a:ext cx="1234440" cy="74980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814815" y="1828800"/>
            <a:ext cx="123444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15984" y="2011680"/>
            <a:ext cx="8321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2A33"/>
                </a:solidFill>
                <a:latin typeface="Arial"/>
              </a:rPr>
              <a:t>git commit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15984" y="2468880"/>
            <a:ext cx="832104" cy="-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" b="0" i="0">
                <a:solidFill>
                  <a:srgbClr val="66727C"/>
                </a:solidFill>
                <a:latin typeface="Arial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49256" y="194767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2F7F79"/>
                </a:solidFill>
                <a:latin typeface="Arial"/>
              </a:rPr>
              <a:t>→</a:t>
            </a:r>
          </a:p>
        </p:txBody>
      </p:sp>
      <p:sp>
        <p:nvSpPr>
          <p:cNvPr id="44" name="Oval 43"/>
          <p:cNvSpPr/>
          <p:nvPr/>
        </p:nvSpPr>
        <p:spPr>
          <a:xfrm>
            <a:off x="10168128" y="1965960"/>
            <a:ext cx="438912" cy="438912"/>
          </a:xfrm>
          <a:prstGeom prst="ellipse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68711" y="2039112"/>
            <a:ext cx="228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735055" y="1828800"/>
            <a:ext cx="1234440" cy="749808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35055" y="1828800"/>
            <a:ext cx="123444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36224" y="2011680"/>
            <a:ext cx="8321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2A33"/>
                </a:solidFill>
                <a:latin typeface="Arial"/>
              </a:rPr>
              <a:t>git push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36224" y="2468880"/>
            <a:ext cx="832104" cy="-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" b="0" i="0">
                <a:solidFill>
                  <a:srgbClr val="66727C"/>
                </a:solidFill>
                <a:latin typeface="Arial"/>
              </a:rPr>
              <a:t/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05840" y="3749039"/>
            <a:ext cx="10058400" cy="13258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05840" y="3749039"/>
            <a:ext cx="10058400" cy="109728"/>
          </a:xfrm>
          <a:prstGeom prst="rect">
            <a:avLst/>
          </a:prstGeom>
          <a:solidFill>
            <a:srgbClr val="20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07008" y="3931920"/>
            <a:ext cx="965606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33"/>
                </a:solidFill>
                <a:latin typeface="Arial"/>
              </a:rPr>
              <a:t>Resumo do ciclo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07008" y="4389120"/>
            <a:ext cx="9656064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6727C"/>
                </a:solidFill>
                <a:latin typeface="Arial"/>
              </a:rPr>
              <a:t>Primeiro atualize, depois trabalhe em blocos pequenos, salve com commit e so entao envie para o remoto.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463040" cy="310896"/>
          </a:xfrm>
          <a:prstGeom prst="round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47472"/>
            <a:ext cx="13167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CUIDADOS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046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F2A33"/>
                </a:solidFill>
                <a:latin typeface="Arial"/>
              </a:rPr>
              <a:t>Erros comuns de iniciantes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727C"/>
                </a:solidFill>
                <a:latin typeface="Arial"/>
              </a:rPr>
              <a:t>Um slide curto para evitar tropeços nas primeiras semanas.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55680" cy="0"/>
          </a:xfrm>
          <a:prstGeom prst="line">
            <a:avLst/>
          </a:prstGeom>
          <a:ln w="12700">
            <a:solidFill>
              <a:srgbClr val="D9D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47395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727C"/>
                </a:solidFill>
                <a:latin typeface="Arial"/>
              </a:rPr>
              <a:t>Git do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727C"/>
                </a:solidFill>
                <a:latin typeface="Arial"/>
              </a:rPr>
              <a:t>12/13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4663440" cy="1463040"/>
          </a:xfrm>
          <a:prstGeom prst="roundRect">
            <a:avLst/>
          </a:prstGeom>
          <a:solidFill>
            <a:srgbClr val="F8DDDA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466344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965960"/>
            <a:ext cx="426110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33"/>
                </a:solidFill>
                <a:latin typeface="Arial"/>
              </a:rPr>
              <a:t>Nao olhar git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423160"/>
            <a:ext cx="42611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6727C"/>
                </a:solidFill>
                <a:latin typeface="Arial"/>
              </a:rPr>
              <a:t>Antes de add e commit, leia o estado do projeto.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783080"/>
            <a:ext cx="4663440" cy="1463040"/>
          </a:xfrm>
          <a:prstGeom prst="roundRect">
            <a:avLst/>
          </a:prstGeom>
          <a:solidFill>
            <a:srgbClr val="FBE8D2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783080"/>
            <a:ext cx="466344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965960"/>
            <a:ext cx="426110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33"/>
                </a:solidFill>
                <a:latin typeface="Arial"/>
              </a:rPr>
              <a:t>Mensagem "update"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423160"/>
            <a:ext cx="42611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6727C"/>
                </a:solidFill>
                <a:latin typeface="Arial"/>
              </a:rPr>
              <a:t>Prefira dizer o que mudou de verdade.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49039"/>
            <a:ext cx="4663440" cy="14630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749039"/>
            <a:ext cx="466344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931920"/>
            <a:ext cx="426110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33"/>
                </a:solidFill>
                <a:latin typeface="Arial"/>
              </a:rPr>
              <a:t>Ficar horas sem commit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4389120"/>
            <a:ext cx="42611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6727C"/>
                </a:solidFill>
                <a:latin typeface="Arial"/>
              </a:rPr>
              <a:t>Commits pequenos ajudam a voltar atras.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749039"/>
            <a:ext cx="4663440" cy="1463040"/>
          </a:xfrm>
          <a:prstGeom prst="roundRect">
            <a:avLst/>
          </a:prstGeom>
          <a:solidFill>
            <a:srgbClr val="DCEEEB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749039"/>
            <a:ext cx="466344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3931920"/>
            <a:ext cx="426110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33"/>
                </a:solidFill>
                <a:latin typeface="Arial"/>
              </a:rPr>
              <a:t>Confundir Git com GitHub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389120"/>
            <a:ext cx="42611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6727C"/>
                </a:solidFill>
                <a:latin typeface="Arial"/>
              </a:rPr>
              <a:t>Git e local. GitHub e remoto.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66928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6727C"/>
                </a:solidFill>
                <a:latin typeface="Arial"/>
              </a:rPr>
              <a:t>Dica final: commits pequenos e frequentes quase sempre sao melhores do que um commit gigante no fim do dia.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463040" cy="310896"/>
          </a:xfrm>
          <a:prstGeom prst="round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47472"/>
            <a:ext cx="13167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FECHAMENTO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046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F2A33"/>
                </a:solidFill>
                <a:latin typeface="Arial"/>
              </a:rPr>
              <a:t>Mini exercicio para praticar hoje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727C"/>
                </a:solidFill>
                <a:latin typeface="Arial"/>
              </a:rPr>
              <a:t>Feche a aula com uma tarefa curta para consolidar o fluxo.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55680" cy="0"/>
          </a:xfrm>
          <a:prstGeom prst="line">
            <a:avLst/>
          </a:prstGeom>
          <a:ln w="12700">
            <a:solidFill>
              <a:srgbClr val="D9D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47395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727C"/>
                </a:solidFill>
                <a:latin typeface="Arial"/>
              </a:rPr>
              <a:t>Git do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727C"/>
                </a:solidFill>
                <a:latin typeface="Arial"/>
              </a:rPr>
              <a:t>13/13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83080"/>
            <a:ext cx="5577840" cy="34290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783080"/>
            <a:ext cx="5577840" cy="109728"/>
          </a:xfrm>
          <a:prstGeom prst="rect">
            <a:avLst/>
          </a:prstGeom>
          <a:solidFill>
            <a:srgbClr val="2F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965960"/>
            <a:ext cx="517550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2A33"/>
                </a:solidFill>
                <a:latin typeface="Arial"/>
              </a:rPr>
              <a:t>Tarefa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23160"/>
            <a:ext cx="5175503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6727C"/>
                </a:solidFill>
                <a:latin typeface="Arial"/>
              </a:rPr>
              <a:t>1. Crie a pasta pratica-git.
2. Rode git init.
3. Crie um README.md.
4. Rode git add e git commit.
5. Altere o README e use git status, git diff e git log --oneline.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1783080"/>
            <a:ext cx="4572000" cy="2377440"/>
          </a:xfrm>
          <a:prstGeom prst="roundRect">
            <a:avLst/>
          </a:prstGeom>
          <a:solidFill>
            <a:srgbClr val="DCEEEB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1783080"/>
            <a:ext cx="4572000" cy="109728"/>
          </a:xfrm>
          <a:prstGeom prst="rect">
            <a:avLst/>
          </a:prstGeom>
          <a:solidFill>
            <a:srgbClr val="20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6288" y="1965960"/>
            <a:ext cx="416966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33"/>
                </a:solidFill>
                <a:latin typeface="Arial"/>
              </a:rPr>
              <a:t>Ao final, a pessoa deve conseguir responder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423160"/>
            <a:ext cx="4169663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6727C"/>
                </a:solidFill>
                <a:latin typeface="Arial"/>
              </a:rPr>
              <a:t>• O que esta staged agora?
• O que ja foi commitado?
• Como voltar para a branch main?
• Qual comando envia mudancas para o GitHub?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526280"/>
            <a:ext cx="4572000" cy="868680"/>
          </a:xfrm>
          <a:prstGeom prst="roundRect">
            <a:avLst/>
          </a:prstGeom>
          <a:solidFill>
            <a:srgbClr val="FBE8D2"/>
          </a:solidFill>
          <a:ln w="12700">
            <a:solidFill>
              <a:srgbClr val="D9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4526280"/>
            <a:ext cx="4572000" cy="109728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76288" y="4709160"/>
            <a:ext cx="416966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2A33"/>
                </a:solidFill>
                <a:latin typeface="Arial"/>
              </a:rPr>
              <a:t>Se o aluno entendeu status, add, commit e push, ele ja saiu do zero.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5166360"/>
            <a:ext cx="4169663" cy="45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" b="0" i="0">
                <a:solidFill>
                  <a:srgbClr val="66727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do zero</dc:title>
  <dc:subject>Apresentacao introdutoria de Git em PT-BR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